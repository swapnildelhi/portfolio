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02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B2028"/>
                </a:solidFill>
                <a:latin typeface="Arial"/>
              </a:rPr>
              <a:t>Indicative Budget (₹ crore)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Cost (₹ crore, midpoint)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0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Phase I
2026–27</c:v>
                  </c:pt>
                  <c:pt idx="1">
                    <c:v>Phase II
2028–30</c:v>
                  </c:pt>
                  <c:pt idx="2">
                    <c:v>Phase III
2030–35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525</c:v>
                </c:pt>
                <c:pt idx="1">
                  <c:v>1350</c:v>
                </c:pt>
                <c:pt idx="2">
                  <c:v>2750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20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B20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7A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4A1F30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4A1F3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 RESEARCH PAPER  •  YOUTH VISION INDIA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Strengthening Women's Leadership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Rural India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D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Policy Framework for Inclusive Governance and Sustainable Development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201168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46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Jagriti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193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Representation has grown. Influence hasn't kept pace.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constitute nearly half of India's population, yet their leadership in rural governance, entrepreneurship, and community decision-making remains below potential — constrained by unequal access to education, finance, digital technology, and institutional support.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paper proposes an original integrated model — the LEAD Framework — and a Youth Vision India Action Plan to translate it into practice, supporting SDGs 5, 8, 10, and 16.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60920" y="86868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F7F1EC"/>
          </a:solidFill>
          <a:ln/>
        </p:spPr>
      </p:sp>
      <p:sp>
        <p:nvSpPr>
          <p:cNvPr id="7" name="Text 5"/>
          <p:cNvSpPr/>
          <p:nvPr/>
        </p:nvSpPr>
        <p:spPr>
          <a:xfrm>
            <a:off x="7635240" y="97840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49.7%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418320" y="106984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Panchayat seats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by women nationally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60920" y="2496312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F7F1EC"/>
          </a:solidFill>
          <a:ln/>
        </p:spPr>
      </p:sp>
      <p:sp>
        <p:nvSpPr>
          <p:cNvPr id="10" name="Text 8"/>
          <p:cNvSpPr/>
          <p:nvPr/>
        </p:nvSpPr>
        <p:spPr>
          <a:xfrm>
            <a:off x="7635240" y="2606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1.4M+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418320" y="2697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elected as PRI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60920" y="4123944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F7F1EC"/>
          </a:solidFill>
          <a:ln/>
        </p:spPr>
      </p:sp>
      <p:sp>
        <p:nvSpPr>
          <p:cNvPr id="13" name="Text 11"/>
          <p:cNvSpPr/>
          <p:nvPr/>
        </p:nvSpPr>
        <p:spPr>
          <a:xfrm>
            <a:off x="7635240" y="423367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2.86M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418320" y="4325112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representatives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under RGSA (2022–25)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Framework  |  Youth Vision India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Symbolic representation, not substantive leadership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33832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D2E4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029968"/>
            <a:ext cx="731520" cy="7315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6" name="Image 0" descr="/home/claude/lead-ppt/icon_prox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7924" y="217627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97180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Decision-Making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3675888"/>
            <a:ext cx="22951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Elected women often influenced or overridden by male family members in Panchayat affairs.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1737360"/>
            <a:ext cx="2697480" cy="33832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D2E46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57700" y="2029968"/>
            <a:ext cx="731520" cy="7315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1" name="Image 1" descr="/home/claude/lead-ppt/icon_div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004" y="2176272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297180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&amp; Digital Divide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75888" y="3675888"/>
            <a:ext cx="22951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in training and digital literacy limit confident participation in e-governance.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0" y="1737360"/>
            <a:ext cx="2697480" cy="33832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D2E46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83780" y="2029968"/>
            <a:ext cx="731520" cy="7315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6" name="Image 2" descr="/home/claude/lead-ppt/icon_econom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084" y="2176272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65392" y="297180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Dependence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601968" y="3675888"/>
            <a:ext cx="22951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land ownership and credit access constrain the ability to contest or lead.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326880" y="1737360"/>
            <a:ext cx="2697480" cy="33832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6D2E46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309860" y="2029968"/>
            <a:ext cx="731520" cy="7315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1" name="Image 3" descr="/home/claude/lead-ppt/icon_fragm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6164" y="2176272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91472" y="297180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Fragmentation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528048" y="3675888"/>
            <a:ext cx="22951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 and capacity-building vary widely across states and districts.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WELL Labs (2026); NABARD (2024)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Framework  |  Youth Vision India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INDIA'S POSITION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Haryana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2020, Haryana raised its Panchayati Raj reservation from 33% to 50% for women. A 2025 ground assessment shows real progress — but also the limits of representation alone.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063240" cy="1554480"/>
          </a:xfrm>
          <a:prstGeom prst="roundRect">
            <a:avLst>
              <a:gd name="adj" fmla="val 4706"/>
            </a:avLst>
          </a:prstGeom>
          <a:solidFill>
            <a:srgbClr val="F7F1E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97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35204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Sarpanch posts held by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(443 of 925 seats)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94760" y="2606040"/>
            <a:ext cx="3246120" cy="1554480"/>
          </a:xfrm>
          <a:prstGeom prst="roundRect">
            <a:avLst>
              <a:gd name="adj" fmla="val 4706"/>
            </a:avLst>
          </a:prstGeom>
          <a:solidFill>
            <a:srgbClr val="F7F1EC"/>
          </a:solidFill>
          <a:ln/>
        </p:spPr>
      </p:sp>
      <p:sp>
        <p:nvSpPr>
          <p:cNvPr id="9" name="Text 7"/>
          <p:cNvSpPr/>
          <p:nvPr/>
        </p:nvSpPr>
        <p:spPr>
          <a:xfrm>
            <a:off x="3794760" y="26974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12-day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931920" y="35204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training that changed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Sarpanch's approach entirely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443484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Women-led local governments prioritise drinking water, sanitation, health, and nutrition — strengthening community resilience to climate and economic shocks.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06640" y="1463040"/>
            <a:ext cx="4251960" cy="3931920"/>
          </a:xfrm>
          <a:prstGeom prst="roundRect">
            <a:avLst>
              <a:gd name="adj" fmla="val 2326"/>
            </a:avLst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7635240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7818120" y="233172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realised my experience is my strength. I understand my village.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818120" y="3886200"/>
            <a:ext cx="128016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40233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Chandrakala Chattarsingh, 58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818120" y="43434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Sarpanch, Ghusgaon Panchayat, Madhya Pradesh — after years of proxy participation through her son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Free Press Journal (2026); ISPP (2025)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Framework  |  Youth Vision India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CASE STUDIES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models, three lessons for India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47672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4767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Rwanda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971800" y="1856232"/>
            <a:ext cx="37490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Institutionalising Political Leadership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03720" y="1856232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priority: structured leadership training, not further electoral expansion.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502152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6D2E4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50215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Bangladesh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971800" y="3410712"/>
            <a:ext cx="37490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Community-Based Economic Leadership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03720" y="3410712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SHGs should evolve into hubs for governance training and digital capacity.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5056632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05663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Sweden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971800" y="4965192"/>
            <a:ext cx="37490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Mainstreaming in Public Policy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03720" y="4965192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rural programme should carry measurable women's leadership indicators.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Framework  |  Youth Vision India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LEAD Framework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D9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integrated policy model for rural women's leadership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51760" cy="4160520"/>
          </a:xfrm>
          <a:prstGeom prst="roundRect">
            <a:avLst>
              <a:gd name="adj" fmla="val 3103"/>
            </a:avLst>
          </a:prstGeom>
          <a:solidFill>
            <a:srgbClr val="4A1F30"/>
          </a:solidFill>
          <a:ln/>
        </p:spPr>
      </p:sp>
      <p:sp>
        <p:nvSpPr>
          <p:cNvPr id="6" name="Shape 4"/>
          <p:cNvSpPr/>
          <p:nvPr/>
        </p:nvSpPr>
        <p:spPr>
          <a:xfrm>
            <a:off x="1490472" y="2331720"/>
            <a:ext cx="768096" cy="768096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7" name="Image 0" descr="/home/claude/lead-ppt/icon_leadership_be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6776" y="2478024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2278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31520" y="3749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Development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" y="4663440"/>
            <a:ext cx="2249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District-level Rural Women Leadership Academies with certified training and mentorship networks.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83280" y="2057400"/>
            <a:ext cx="2651760" cy="4160520"/>
          </a:xfrm>
          <a:prstGeom prst="roundRect">
            <a:avLst>
              <a:gd name="adj" fmla="val 3103"/>
            </a:avLst>
          </a:prstGeom>
          <a:solidFill>
            <a:srgbClr val="4A1F30"/>
          </a:solidFill>
          <a:ln/>
        </p:spPr>
      </p:sp>
      <p:sp>
        <p:nvSpPr>
          <p:cNvPr id="12" name="Shape 9"/>
          <p:cNvSpPr/>
          <p:nvPr/>
        </p:nvSpPr>
        <p:spPr>
          <a:xfrm>
            <a:off x="4325112" y="2331720"/>
            <a:ext cx="768096" cy="768096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3" name="Image 1" descr="/home/claude/lead-ppt/icon_economic_ber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2478024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32278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3566160" y="3749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Economic Inclusion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584448" y="4663440"/>
            <a:ext cx="2249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credit through SHGs; digital financial literacy and women-led enterprises.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17920" y="2057400"/>
            <a:ext cx="2651760" cy="4160520"/>
          </a:xfrm>
          <a:prstGeom prst="roundRect">
            <a:avLst>
              <a:gd name="adj" fmla="val 3103"/>
            </a:avLst>
          </a:prstGeom>
          <a:solidFill>
            <a:srgbClr val="4A1F30"/>
          </a:solidFill>
          <a:ln/>
        </p:spPr>
      </p:sp>
      <p:sp>
        <p:nvSpPr>
          <p:cNvPr id="18" name="Shape 14"/>
          <p:cNvSpPr/>
          <p:nvPr/>
        </p:nvSpPr>
        <p:spPr>
          <a:xfrm>
            <a:off x="7159752" y="2331720"/>
            <a:ext cx="768096" cy="768096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19" name="Image 2" descr="/home/claude/lead-ppt/icon_digital_ber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2478024"/>
            <a:ext cx="475488" cy="4754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32278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6400800" y="3749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Digital &amp; Institutional Support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419088" y="4663440"/>
            <a:ext cx="2249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literacy, equal access to schemes, childcare support, disability inclusion.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052560" y="2057400"/>
            <a:ext cx="2651760" cy="4160520"/>
          </a:xfrm>
          <a:prstGeom prst="roundRect">
            <a:avLst>
              <a:gd name="adj" fmla="val 3103"/>
            </a:avLst>
          </a:prstGeom>
          <a:solidFill>
            <a:srgbClr val="4A1F30"/>
          </a:solidFill>
          <a:ln/>
        </p:spPr>
      </p:sp>
      <p:sp>
        <p:nvSpPr>
          <p:cNvPr id="24" name="Shape 19"/>
          <p:cNvSpPr/>
          <p:nvPr/>
        </p:nvSpPr>
        <p:spPr>
          <a:xfrm>
            <a:off x="9994392" y="2331720"/>
            <a:ext cx="768096" cy="768096"/>
          </a:xfrm>
          <a:prstGeom prst="ellipse">
            <a:avLst/>
          </a:prstGeom>
          <a:solidFill>
            <a:srgbClr val="D4A017"/>
          </a:solidFill>
          <a:ln/>
        </p:spPr>
      </p:sp>
      <p:pic>
        <p:nvPicPr>
          <p:cNvPr id="25" name="Image 3" descr="/home/claude/lead-ppt/icon_decision_ber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0696" y="2478024"/>
            <a:ext cx="475488" cy="4754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52560" y="32278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9235440" y="3749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 &amp; Democratic Participation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9253728" y="4663440"/>
            <a:ext cx="2249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Gram Sabha roles, governance fellowships, leadership performance awards.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Framework  |  Youth Vision India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LEAD is different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models each cover only one dimension. LEAD's originality lies in sequencing and integration — one district-implementable pathway with measurable phase-wise milestones.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7F1E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31720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Panchayati Raj Reservation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2331720"/>
            <a:ext cx="6858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 numerical representation — stops there. No mandated training or economic follow-through.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19272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7F1E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19272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RGSA &amp; Sashakt Panchayat-Netri Abhiyan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3319272"/>
            <a:ext cx="6858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leadership skills — but operate independently of credit access or digital infrastructure.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306824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7F1E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306824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Sehgal Foundation 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4306824"/>
            <a:ext cx="6858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confidence-building with governance — implemented village-by-village, not at scale.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294376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294376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Framework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5294376"/>
            <a:ext cx="6858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all four dimensions into one scalable, phase-wise, district-implementable model.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Framework  |  Youth Vision India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 implementation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5840" y="2834640"/>
            <a:ext cx="10149840" cy="0"/>
          </a:xfrm>
          <a:prstGeom prst="line">
            <a:avLst/>
          </a:prstGeom>
          <a:noFill/>
          <a:ln w="25400">
            <a:solidFill>
              <a:srgbClr val="A26769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551176" y="2688336"/>
            <a:ext cx="292608" cy="292608"/>
          </a:xfrm>
          <a:prstGeom prst="ellipse">
            <a:avLst/>
          </a:prstGeom>
          <a:solidFill>
            <a:srgbClr val="6D2E4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329184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34015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37947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Rural Women Leadership Academies in pilot districts; launch mentorship pairing.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5166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Panchayati Raj + State Depts.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54496" y="2688336"/>
            <a:ext cx="292608" cy="292608"/>
          </a:xfrm>
          <a:prstGeom prst="ellipse">
            <a:avLst/>
          </a:prstGeom>
          <a:solidFill>
            <a:srgbClr val="6D2E4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329184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34015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2028–30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37947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digital literacy &amp; e-governance training; integrate SHG credit linkages.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5166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DAY-NRLM + MeitY (Digital India)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0916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II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957816" y="2688336"/>
            <a:ext cx="292608" cy="292608"/>
          </a:xfrm>
          <a:prstGeom prst="ellipse">
            <a:avLst/>
          </a:prstGeom>
          <a:solidFill>
            <a:srgbClr val="6D2E4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329184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595360" y="34015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2030–35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95360" y="37947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scale-up across all states/UTs; institutionalise Gram Sabha participation.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95360" y="5166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NITI Aayog + State Panchayati Raj Depts.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41248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III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Framework  |  Youth Vision India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MONITORING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Costed, benchmarked, and measurable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estimates benchmarked against RGSA's ₹5,911 crore outlay (2022–26)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965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2035 Monitoring Targets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0" y="242316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F7F1EC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0" y="24231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PRI reps trained (LEAD Academies)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784080" y="24231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1.4M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0" y="333756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F7F1EC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0" y="33375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with operational Academies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784080" y="33375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~750 (all)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00800" y="425196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F7F1EC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0" y="4251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reps with independent digital access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784080" y="42519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00800" y="516636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F7F1EC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0" y="51663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States/UTs at 50% reservation compliance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784080" y="51663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Framework  |  Youth Vision India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MITIGATION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Anticipated risks, and how LEAD responds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44268"/>
            <a:ext cx="1188720" cy="512064"/>
          </a:xfrm>
          <a:prstGeom prst="roundRect">
            <a:avLst>
              <a:gd name="adj" fmla="val 50000"/>
            </a:avLst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426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4560" y="1856232"/>
            <a:ext cx="40233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Patriarchal resistance to independent decision-making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0" y="1856232"/>
            <a:ext cx="49377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 male family members &amp; elders directly; publicise success stories to shift norms.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698748"/>
            <a:ext cx="1188720" cy="512064"/>
          </a:xfrm>
          <a:prstGeom prst="roundRect">
            <a:avLst>
              <a:gd name="adj" fmla="val 50000"/>
            </a:avLst>
          </a:prstGeom>
          <a:solidFill>
            <a:srgbClr val="A2676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69874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3410712"/>
            <a:ext cx="40233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capture — benefits limited to already-empowered women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3410712"/>
            <a:ext cx="49377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weighted towards SC/ST, first-time reps, and low-literacy districts.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5253228"/>
            <a:ext cx="1188720" cy="512064"/>
          </a:xfrm>
          <a:prstGeom prst="roundRect">
            <a:avLst>
              <a:gd name="adj" fmla="val 50000"/>
            </a:avLst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25322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4965192"/>
            <a:ext cx="40233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— women not contesting a second term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0" y="4965192"/>
            <a:ext cx="49377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continuity beyond one term; recognition and leadership awards.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Framework  |  Youth Vision India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YVI ACTION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Youth Vision India can lead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7F1E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6" name="Image 0" descr="/home/claude/lead-ppt/icon_leaders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04825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606040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Women Leadership Fellowship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3154680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mentoring programme with workshops and field research.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7F1EC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192024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1" name="Image 1" descr="/home/claude/lead-ppt/icon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04825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44568" y="2606040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Policy Research Labs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44568" y="3154680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partnerships analysing local governance challenges.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7F1EC"/>
          </a:solidFill>
          <a:ln/>
        </p:spPr>
      </p:sp>
      <p:sp>
        <p:nvSpPr>
          <p:cNvPr id="15" name="Shape 11"/>
          <p:cNvSpPr/>
          <p:nvPr/>
        </p:nvSpPr>
        <p:spPr>
          <a:xfrm>
            <a:off x="8366760" y="192024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6" name="Image 2" descr="/home/claude/lead-ppt/icon_digit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204825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9328" y="2606040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Leadership Training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39328" y="3154680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programmes on e-governance, AI, and financial inclusion.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0690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7F1EC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29768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1" name="Image 3" descr="/home/claude/lead-ppt/icon_handshak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42569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4983480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Leadership Summit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9808" y="5532120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platform for policymakers, reps, SHGs, and researchers.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40690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7F1EC"/>
          </a:solidFill>
          <a:ln/>
        </p:spPr>
      </p:sp>
      <p:sp>
        <p:nvSpPr>
          <p:cNvPr id="25" name="Shape 19"/>
          <p:cNvSpPr/>
          <p:nvPr/>
        </p:nvSpPr>
        <p:spPr>
          <a:xfrm>
            <a:off x="4572000" y="429768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6" name="Image 4" descr="/home/claude/lead-ppt/icon_sca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4425696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44568" y="4983480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Awards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44568" y="5532120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Recognising outstanding women leaders in governance &amp; enterprise.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40690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7F1EC"/>
          </a:solidFill>
          <a:ln/>
        </p:spPr>
      </p:sp>
      <p:sp>
        <p:nvSpPr>
          <p:cNvPr id="30" name="Shape 23"/>
          <p:cNvSpPr/>
          <p:nvPr/>
        </p:nvSpPr>
        <p:spPr>
          <a:xfrm>
            <a:off x="8366760" y="4297680"/>
            <a:ext cx="548640" cy="5486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31" name="Image 5" descr="/home/claude/lead-ppt/icon_decis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776" y="4425696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39328" y="4983480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Monitoring &amp; Impact Assessment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339328" y="5532120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evaluation through measurable participation indicators.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Framework  |  Youth Vision India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4572000" cy="4572000"/>
          </a:xfrm>
          <a:prstGeom prst="ellipse">
            <a:avLst/>
          </a:prstGeom>
          <a:solidFill>
            <a:srgbClr val="4A1F3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4A1F3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cannot achieve Viksit Bharat 2047 without transforming rural women from beneficiaries into policy leaders.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 leadership is a strategic investment in inclusive governance and sustainable development — accelerating progress towards SDGs 5, 8, 10, and 16.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201168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257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Jagriti  •  Youth Vision India  •  July 2026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2026-07-29T20:18:13Z</dcterms:created>
  <dcterms:modified xsi:type="dcterms:W3CDTF">2026-07-29T20:18:13Z</dcterms:modified>
</cp:coreProperties>
</file>